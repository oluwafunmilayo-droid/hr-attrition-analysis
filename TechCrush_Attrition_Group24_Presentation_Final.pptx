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65" r:id="rId15"/>
    <p:sldId id="259" r:id="rId5"/>
    <p:sldId id="260" r:id="rId6"/>
    <p:sldId id="261" r:id="rId7"/>
    <p:sldId id="262" r:id="rId8"/>
    <p:sldId id="263" r:id="rId9"/>
    <p:sldId id="264" r:id="rId10"/>
  </p:sldIdLst>
  <p:sldSz type="screen16x9"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32" y="-4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slide" Target="slides/slide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8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0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5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9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1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3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3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ashboard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0"/>
        </a:solidFill>
        <a:effectLst/>
      </p:bgPr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ext 3"/>
          <p:cNvSpPr/>
          <p:nvPr/>
        </p:nvSpPr>
        <p:spPr>
          <a:xfrm>
            <a:off x="914400" y="777240"/>
            <a:ext cx="7315200" cy="7772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4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Employee Attrition Analysis</a:t>
            </a:r>
            <a:endParaRPr dirty="0" sz="3400" lang="en-US"/>
          </a:p>
        </p:txBody>
      </p:sp>
      <p:sp>
        <p:nvSpPr>
          <p:cNvPr id="1048577" name="Text 4"/>
          <p:cNvSpPr/>
          <p:nvPr/>
        </p:nvSpPr>
        <p:spPr>
          <a:xfrm>
            <a:off x="914400" y="1572768"/>
            <a:ext cx="7315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20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TechCrush Corporation</a:t>
            </a:r>
            <a:endParaRPr dirty="0" sz="2000" lang="en-US"/>
          </a:p>
        </p:txBody>
      </p:sp>
      <p:sp>
        <p:nvSpPr>
          <p:cNvPr id="1048578" name="Text 6"/>
          <p:cNvSpPr/>
          <p:nvPr/>
        </p:nvSpPr>
        <p:spPr>
          <a:xfrm>
            <a:off x="3200400" y="2267712"/>
            <a:ext cx="2743200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· 1,470 Employees</a:t>
            </a:r>
            <a:endParaRPr dirty="0" sz="1100" lang="en-US"/>
          </a:p>
        </p:txBody>
      </p:sp>
      <p:sp>
        <p:nvSpPr>
          <p:cNvPr id="1048579" name="Text 8"/>
          <p:cNvSpPr/>
          <p:nvPr/>
        </p:nvSpPr>
        <p:spPr>
          <a:xfrm>
            <a:off x="2468880" y="3127248"/>
            <a:ext cx="42062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i="1" lang="en-US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dirty="0" sz="1000" lang="en-US"/>
          </a:p>
        </p:txBody>
      </p:sp>
      <p:sp>
        <p:nvSpPr>
          <p:cNvPr id="1048580" name="Text 9"/>
          <p:cNvSpPr/>
          <p:nvPr/>
        </p:nvSpPr>
        <p:spPr>
          <a:xfrm>
            <a:off x="2468880" y="3401568"/>
            <a:ext cx="420624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TechCrush Data Analytics Bootcamp</a:t>
            </a:r>
            <a:endParaRPr dirty="0" sz="1300" lang="en-US"/>
          </a:p>
        </p:txBody>
      </p:sp>
      <p:sp>
        <p:nvSpPr>
          <p:cNvPr id="1048581" name="Text 10"/>
          <p:cNvSpPr/>
          <p:nvPr/>
        </p:nvSpPr>
        <p:spPr>
          <a:xfrm>
            <a:off x="2468880" y="3721608"/>
            <a:ext cx="42062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6 · Group 24 · Capstone Project · 2026</a:t>
            </a:r>
            <a:endParaRPr dirty="0" sz="1100" lang="en-US"/>
          </a:p>
        </p:txBody>
      </p:sp>
      <p:sp>
        <p:nvSpPr>
          <p:cNvPr id="1048582" name="Text 11"/>
          <p:cNvSpPr/>
          <p:nvPr/>
        </p:nvSpPr>
        <p:spPr>
          <a:xfrm>
            <a:off x="2468880" y="4005072"/>
            <a:ext cx="42062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i="1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Aisha Musa &amp; Chinedu Okoli</a:t>
            </a:r>
            <a:endParaRPr dirty="0" sz="10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ext 1"/>
          <p:cNvSpPr/>
          <p:nvPr/>
        </p:nvSpPr>
        <p:spPr>
          <a:xfrm>
            <a:off x="365760" y="201168"/>
            <a:ext cx="82296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 smtClean="0"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What </a:t>
            </a:r>
            <a:r>
              <a:rPr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is this analysis about?</a:t>
            </a:r>
            <a:endParaRPr dirty="0" sz="2200" lang="en-US"/>
          </a:p>
        </p:txBody>
      </p:sp>
      <p:sp>
        <p:nvSpPr>
          <p:cNvPr id="1048587" name="Text 2"/>
          <p:cNvSpPr/>
          <p:nvPr/>
        </p:nvSpPr>
        <p:spPr>
          <a:xfrm>
            <a:off x="457200" y="1101852"/>
            <a:ext cx="4114800" cy="34747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We Asked:</a:t>
            </a:r>
            <a:endParaRPr dirty="0" sz="1400" lang="en-US"/>
          </a:p>
        </p:txBody>
      </p:sp>
      <p:sp>
        <p:nvSpPr>
          <p:cNvPr id="1048588" name="Text 4"/>
          <p:cNvSpPr/>
          <p:nvPr/>
        </p:nvSpPr>
        <p:spPr>
          <a:xfrm>
            <a:off x="822960" y="1609344"/>
            <a:ext cx="3657600" cy="292608"/>
          </a:xfrm>
          <a:prstGeom prst="rect"/>
          <a:noFill/>
        </p:spPr>
        <p:txBody>
          <a:bodyPr anchor="ctr" bIns="0" lIns="0" rIns="0" rtlCol="0" tIns="0" wrap="square"/>
          <a:p>
            <a:pPr indent="-171450" marL="171450">
              <a:buFont typeface="Arial" panose="020B0604020202020204" pitchFamily="34" charset="0"/>
              <a:buChar char="•"/>
            </a:pPr>
            <a:r>
              <a:rPr dirty="0" sz="1200" lang="en-US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employees leaving TechCrush?</a:t>
            </a:r>
            <a:endParaRPr dirty="0" sz="1200" lang="en-US"/>
          </a:p>
        </p:txBody>
      </p:sp>
      <p:sp>
        <p:nvSpPr>
          <p:cNvPr id="1048589" name="Text 6"/>
          <p:cNvSpPr/>
          <p:nvPr/>
        </p:nvSpPr>
        <p:spPr>
          <a:xfrm>
            <a:off x="822960" y="2203704"/>
            <a:ext cx="3657600" cy="292608"/>
          </a:xfrm>
          <a:prstGeom prst="rect"/>
          <a:noFill/>
        </p:spPr>
        <p:txBody>
          <a:bodyPr anchor="ctr" bIns="0" lIns="0" rIns="0" rtlCol="0" tIns="0" wrap="square"/>
          <a:p>
            <a:pPr indent="-171450" marL="171450">
              <a:buFont typeface="Arial" panose="020B0604020202020204" pitchFamily="34" charset="0"/>
              <a:buChar char="•"/>
            </a:pPr>
            <a:r>
              <a:rPr dirty="0" sz="1200" lang="en-US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groups are most at risk?</a:t>
            </a:r>
            <a:endParaRPr dirty="0" sz="1200" lang="en-US"/>
          </a:p>
        </p:txBody>
      </p:sp>
      <p:sp>
        <p:nvSpPr>
          <p:cNvPr id="1048590" name="Text 8"/>
          <p:cNvSpPr/>
          <p:nvPr/>
        </p:nvSpPr>
        <p:spPr>
          <a:xfrm>
            <a:off x="822960" y="2798064"/>
            <a:ext cx="3657600" cy="292608"/>
          </a:xfrm>
          <a:prstGeom prst="rect"/>
          <a:noFill/>
        </p:spPr>
        <p:txBody>
          <a:bodyPr anchor="ctr" bIns="0" lIns="0" rIns="0" rtlCol="0" tIns="0" wrap="square"/>
          <a:p>
            <a:pPr indent="-171450" marL="171450">
              <a:buFont typeface="Arial" panose="020B0604020202020204" pitchFamily="34" charset="0"/>
              <a:buChar char="•"/>
            </a:pPr>
            <a:r>
              <a:rPr dirty="0" sz="1200" lang="en-US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the company actually do about it?</a:t>
            </a:r>
            <a:endParaRPr dirty="0" sz="1200" lang="en-US"/>
          </a:p>
        </p:txBody>
      </p:sp>
      <p:sp>
        <p:nvSpPr>
          <p:cNvPr id="1048591" name="Text 9"/>
          <p:cNvSpPr/>
          <p:nvPr/>
        </p:nvSpPr>
        <p:spPr>
          <a:xfrm>
            <a:off x="457200" y="3493008"/>
            <a:ext cx="41148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Our Dataset:</a:t>
            </a:r>
            <a:endParaRPr dirty="0" sz="1300" lang="en-US"/>
          </a:p>
        </p:txBody>
      </p:sp>
      <p:sp>
        <p:nvSpPr>
          <p:cNvPr id="1048592" name="Text 10"/>
          <p:cNvSpPr/>
          <p:nvPr/>
        </p:nvSpPr>
        <p:spPr>
          <a:xfrm>
            <a:off x="457200" y="3822192"/>
            <a:ext cx="411480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We used the IBM HR Analytics dataset which has 1,470 </a:t>
            </a:r>
            <a:r>
              <a:rPr dirty="0" sz="1150" lang="en-US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dirty="0" sz="11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 with info on salary, job role, travel habits, satisfaction scores, and more.</a:t>
            </a:r>
            <a:endParaRPr dirty="0" sz="1150" lang="en-US"/>
          </a:p>
        </p:txBody>
      </p:sp>
      <p:sp>
        <p:nvSpPr>
          <p:cNvPr id="1048593" name="Text 12"/>
          <p:cNvSpPr/>
          <p:nvPr/>
        </p:nvSpPr>
        <p:spPr>
          <a:xfrm>
            <a:off x="5029200" y="1280160"/>
            <a:ext cx="365760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0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1,470</a:t>
            </a:r>
            <a:endParaRPr dirty="0" sz="3000" lang="en-US"/>
          </a:p>
        </p:txBody>
      </p:sp>
      <p:sp>
        <p:nvSpPr>
          <p:cNvPr id="1048594" name="Text 13"/>
          <p:cNvSpPr/>
          <p:nvPr/>
        </p:nvSpPr>
        <p:spPr>
          <a:xfrm>
            <a:off x="5029200" y="1764792"/>
            <a:ext cx="365760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dirty="0" sz="1100" lang="en-US"/>
          </a:p>
        </p:txBody>
      </p:sp>
      <p:sp>
        <p:nvSpPr>
          <p:cNvPr id="1048595" name="Text 15"/>
          <p:cNvSpPr/>
          <p:nvPr/>
        </p:nvSpPr>
        <p:spPr>
          <a:xfrm>
            <a:off x="5029200" y="2514600"/>
            <a:ext cx="365760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0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237</a:t>
            </a:r>
            <a:endParaRPr dirty="0" sz="3000" lang="en-US"/>
          </a:p>
        </p:txBody>
      </p:sp>
      <p:sp>
        <p:nvSpPr>
          <p:cNvPr id="1048596" name="Text 16"/>
          <p:cNvSpPr/>
          <p:nvPr/>
        </p:nvSpPr>
        <p:spPr>
          <a:xfrm>
            <a:off x="5029200" y="2999232"/>
            <a:ext cx="365760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Left</a:t>
            </a:r>
            <a:endParaRPr dirty="0" sz="1100" lang="en-US"/>
          </a:p>
        </p:txBody>
      </p:sp>
      <p:sp>
        <p:nvSpPr>
          <p:cNvPr id="1048597" name="Text 18"/>
          <p:cNvSpPr/>
          <p:nvPr/>
        </p:nvSpPr>
        <p:spPr>
          <a:xfrm>
            <a:off x="5029200" y="3749040"/>
            <a:ext cx="365760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0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16.1%</a:t>
            </a:r>
            <a:endParaRPr dirty="0" sz="3000" lang="en-US"/>
          </a:p>
        </p:txBody>
      </p:sp>
      <p:sp>
        <p:nvSpPr>
          <p:cNvPr id="1048598" name="Text 19"/>
          <p:cNvSpPr/>
          <p:nvPr/>
        </p:nvSpPr>
        <p:spPr>
          <a:xfrm>
            <a:off x="5029200" y="4233672"/>
            <a:ext cx="365760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dirty="0" sz="11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0"/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ext 0"/>
          <p:cNvSpPr/>
          <p:nvPr/>
        </p:nvSpPr>
        <p:spPr>
          <a:xfrm>
            <a:off x="365760" y="182880"/>
            <a:ext cx="822960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 smtClean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 </a:t>
            </a:r>
            <a:r>
              <a:rPr b="1" dirty="0" sz="2200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leaving the most?</a:t>
            </a:r>
            <a:endParaRPr dirty="0" sz="2200" lang="en-US"/>
          </a:p>
        </p:txBody>
      </p:sp>
      <p:sp>
        <p:nvSpPr>
          <p:cNvPr id="1048603" name="Shape 1"/>
          <p:cNvSpPr/>
          <p:nvPr/>
        </p:nvSpPr>
        <p:spPr>
          <a:xfrm>
            <a:off x="365760" y="694944"/>
            <a:ext cx="8412480" cy="36576"/>
          </a:xfrm>
          <a:prstGeom prst="rect"/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48604" name="Text 2"/>
          <p:cNvSpPr/>
          <p:nvPr/>
        </p:nvSpPr>
        <p:spPr>
          <a:xfrm>
            <a:off x="365760" y="804672"/>
            <a:ext cx="8229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i="1" lang="en-US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by job role (sorted highest to lowest)</a:t>
            </a:r>
            <a:endParaRPr dirty="0" sz="1100" lang="en-US"/>
          </a:p>
        </p:txBody>
      </p:sp>
      <p:sp>
        <p:nvSpPr>
          <p:cNvPr id="1048605" name="Text 3"/>
          <p:cNvSpPr/>
          <p:nvPr/>
        </p:nvSpPr>
        <p:spPr>
          <a:xfrm>
            <a:off x="365760" y="1170432"/>
            <a:ext cx="292608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Sales Representative </a:t>
            </a:r>
            <a:endParaRPr dirty="0" sz="1050" lang="en-US"/>
          </a:p>
        </p:txBody>
      </p:sp>
      <p:sp>
        <p:nvSpPr>
          <p:cNvPr id="1048606" name="Shape 4"/>
          <p:cNvSpPr/>
          <p:nvPr/>
        </p:nvSpPr>
        <p:spPr>
          <a:xfrm>
            <a:off x="3337560" y="1225296"/>
            <a:ext cx="5029200" cy="256032"/>
          </a:xfrm>
          <a:prstGeom prst="roundRect">
            <a:avLst>
              <a:gd name="adj" fmla="val 17857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048607" name="Shape 5"/>
          <p:cNvSpPr/>
          <p:nvPr/>
        </p:nvSpPr>
        <p:spPr>
          <a:xfrm>
            <a:off x="3337560" y="1225296"/>
            <a:ext cx="5004054" cy="256032"/>
          </a:xfrm>
          <a:prstGeom prst="roundRect">
            <a:avLst>
              <a:gd name="adj" fmla="val 17857"/>
            </a:avLst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048608" name="Text 6"/>
          <p:cNvSpPr/>
          <p:nvPr/>
        </p:nvSpPr>
        <p:spPr>
          <a:xfrm>
            <a:off x="8423910" y="1234440"/>
            <a:ext cx="59436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dirty="0" sz="1000" lang="en-US"/>
          </a:p>
        </p:txBody>
      </p:sp>
      <p:sp>
        <p:nvSpPr>
          <p:cNvPr id="1048609" name="Text 7"/>
          <p:cNvSpPr/>
          <p:nvPr/>
        </p:nvSpPr>
        <p:spPr>
          <a:xfrm>
            <a:off x="365760" y="1618488"/>
            <a:ext cx="292608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Laboratory Technician </a:t>
            </a:r>
            <a:endParaRPr dirty="0" sz="1050" lang="en-US"/>
          </a:p>
        </p:txBody>
      </p:sp>
      <p:sp>
        <p:nvSpPr>
          <p:cNvPr id="1048610" name="Shape 8"/>
          <p:cNvSpPr/>
          <p:nvPr/>
        </p:nvSpPr>
        <p:spPr>
          <a:xfrm>
            <a:off x="3337560" y="1673352"/>
            <a:ext cx="5029200" cy="256032"/>
          </a:xfrm>
          <a:prstGeom prst="roundRect">
            <a:avLst>
              <a:gd name="adj" fmla="val 17857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048611" name="Shape 9"/>
          <p:cNvSpPr/>
          <p:nvPr/>
        </p:nvSpPr>
        <p:spPr>
          <a:xfrm>
            <a:off x="3337560" y="1673352"/>
            <a:ext cx="3004947" cy="256032"/>
          </a:xfrm>
          <a:prstGeom prst="roundRect">
            <a:avLst>
              <a:gd name="adj" fmla="val 17857"/>
            </a:avLst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048612" name="Text 10"/>
          <p:cNvSpPr/>
          <p:nvPr/>
        </p:nvSpPr>
        <p:spPr>
          <a:xfrm>
            <a:off x="6424803" y="1682496"/>
            <a:ext cx="59436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23.9%</a:t>
            </a:r>
            <a:endParaRPr dirty="0" sz="1000" lang="en-US"/>
          </a:p>
        </p:txBody>
      </p:sp>
      <p:sp>
        <p:nvSpPr>
          <p:cNvPr id="1048613" name="Text 11"/>
          <p:cNvSpPr/>
          <p:nvPr/>
        </p:nvSpPr>
        <p:spPr>
          <a:xfrm>
            <a:off x="365760" y="2066544"/>
            <a:ext cx="292608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Human Resources </a:t>
            </a:r>
            <a:endParaRPr dirty="0" sz="1050" lang="en-US"/>
          </a:p>
        </p:txBody>
      </p:sp>
      <p:sp>
        <p:nvSpPr>
          <p:cNvPr id="1048614" name="Shape 12"/>
          <p:cNvSpPr/>
          <p:nvPr/>
        </p:nvSpPr>
        <p:spPr>
          <a:xfrm>
            <a:off x="3337560" y="2121408"/>
            <a:ext cx="5029200" cy="256032"/>
          </a:xfrm>
          <a:prstGeom prst="roundRect">
            <a:avLst>
              <a:gd name="adj" fmla="val 17857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048615" name="Shape 13"/>
          <p:cNvSpPr/>
          <p:nvPr/>
        </p:nvSpPr>
        <p:spPr>
          <a:xfrm>
            <a:off x="3337560" y="2121408"/>
            <a:ext cx="2904363" cy="256032"/>
          </a:xfrm>
          <a:prstGeom prst="roundRect">
            <a:avLst>
              <a:gd name="adj" fmla="val 17857"/>
            </a:avLst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048616" name="Text 14"/>
          <p:cNvSpPr/>
          <p:nvPr/>
        </p:nvSpPr>
        <p:spPr>
          <a:xfrm>
            <a:off x="6324219" y="2130552"/>
            <a:ext cx="59436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dirty="0" sz="1000" lang="en-US"/>
          </a:p>
        </p:txBody>
      </p:sp>
      <p:sp>
        <p:nvSpPr>
          <p:cNvPr id="1048617" name="Text 15"/>
          <p:cNvSpPr/>
          <p:nvPr/>
        </p:nvSpPr>
        <p:spPr>
          <a:xfrm>
            <a:off x="365760" y="2514600"/>
            <a:ext cx="292608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Sales Executive </a:t>
            </a:r>
            <a:endParaRPr dirty="0" sz="1050" lang="en-US"/>
          </a:p>
        </p:txBody>
      </p:sp>
      <p:sp>
        <p:nvSpPr>
          <p:cNvPr id="1048618" name="Shape 16"/>
          <p:cNvSpPr/>
          <p:nvPr/>
        </p:nvSpPr>
        <p:spPr>
          <a:xfrm>
            <a:off x="3337560" y="2569464"/>
            <a:ext cx="5029200" cy="256032"/>
          </a:xfrm>
          <a:prstGeom prst="roundRect">
            <a:avLst>
              <a:gd name="adj" fmla="val 17857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048619" name="Shape 17"/>
          <p:cNvSpPr/>
          <p:nvPr/>
        </p:nvSpPr>
        <p:spPr>
          <a:xfrm>
            <a:off x="3337560" y="2569464"/>
            <a:ext cx="2200275" cy="256032"/>
          </a:xfrm>
          <a:prstGeom prst="roundRect">
            <a:avLst>
              <a:gd name="adj" fmla="val 17857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48620" name="Text 18"/>
          <p:cNvSpPr/>
          <p:nvPr/>
        </p:nvSpPr>
        <p:spPr>
          <a:xfrm>
            <a:off x="5620131" y="2578608"/>
            <a:ext cx="59436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17.5%</a:t>
            </a:r>
            <a:endParaRPr dirty="0" sz="1000" lang="en-US"/>
          </a:p>
        </p:txBody>
      </p:sp>
      <p:sp>
        <p:nvSpPr>
          <p:cNvPr id="1048621" name="Text 19"/>
          <p:cNvSpPr/>
          <p:nvPr/>
        </p:nvSpPr>
        <p:spPr>
          <a:xfrm>
            <a:off x="365760" y="2962656"/>
            <a:ext cx="292608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Research Scientist </a:t>
            </a:r>
            <a:endParaRPr dirty="0" sz="1050" lang="en-US"/>
          </a:p>
        </p:txBody>
      </p:sp>
      <p:sp>
        <p:nvSpPr>
          <p:cNvPr id="1048622" name="Shape 20"/>
          <p:cNvSpPr/>
          <p:nvPr/>
        </p:nvSpPr>
        <p:spPr>
          <a:xfrm>
            <a:off x="3337560" y="3017520"/>
            <a:ext cx="5029200" cy="256032"/>
          </a:xfrm>
          <a:prstGeom prst="roundRect">
            <a:avLst>
              <a:gd name="adj" fmla="val 17857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048623" name="Shape 21"/>
          <p:cNvSpPr/>
          <p:nvPr/>
        </p:nvSpPr>
        <p:spPr>
          <a:xfrm>
            <a:off x="3337560" y="3017520"/>
            <a:ext cx="2024253" cy="256032"/>
          </a:xfrm>
          <a:prstGeom prst="roundRect">
            <a:avLst>
              <a:gd name="adj" fmla="val 17857"/>
            </a:avLst>
          </a:prstGeom>
          <a:solidFill>
            <a:srgbClr val="5BB8A0"/>
          </a:solidFill>
          <a:ln w="12700">
            <a:solidFill>
              <a:srgbClr val="5BB8A0"/>
            </a:solidFill>
            <a:prstDash val="solid"/>
          </a:ln>
        </p:spPr>
      </p:sp>
      <p:sp>
        <p:nvSpPr>
          <p:cNvPr id="1048624" name="Text 22"/>
          <p:cNvSpPr/>
          <p:nvPr/>
        </p:nvSpPr>
        <p:spPr>
          <a:xfrm>
            <a:off x="5444109" y="3026664"/>
            <a:ext cx="59436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5B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dirty="0" sz="1000" lang="en-US"/>
          </a:p>
        </p:txBody>
      </p:sp>
      <p:sp>
        <p:nvSpPr>
          <p:cNvPr id="1048625" name="Text 23"/>
          <p:cNvSpPr/>
          <p:nvPr/>
        </p:nvSpPr>
        <p:spPr>
          <a:xfrm>
            <a:off x="365760" y="3410712"/>
            <a:ext cx="292608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Manufacturing Director </a:t>
            </a:r>
            <a:endParaRPr dirty="0" sz="1050" lang="en-US"/>
          </a:p>
        </p:txBody>
      </p:sp>
      <p:sp>
        <p:nvSpPr>
          <p:cNvPr id="1048626" name="Shape 24"/>
          <p:cNvSpPr/>
          <p:nvPr/>
        </p:nvSpPr>
        <p:spPr>
          <a:xfrm>
            <a:off x="3337560" y="3465576"/>
            <a:ext cx="5029200" cy="256032"/>
          </a:xfrm>
          <a:prstGeom prst="roundRect">
            <a:avLst>
              <a:gd name="adj" fmla="val 17857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048627" name="Shape 25"/>
          <p:cNvSpPr/>
          <p:nvPr/>
        </p:nvSpPr>
        <p:spPr>
          <a:xfrm>
            <a:off x="3337560" y="3465576"/>
            <a:ext cx="867537" cy="256032"/>
          </a:xfrm>
          <a:prstGeom prst="roundRect">
            <a:avLst>
              <a:gd name="adj" fmla="val 17857"/>
            </a:avLst>
          </a:prstGeom>
          <a:solidFill>
            <a:srgbClr val="5B8FD6"/>
          </a:solidFill>
          <a:ln w="12700">
            <a:solidFill>
              <a:srgbClr val="5B8FD6"/>
            </a:solidFill>
            <a:prstDash val="solid"/>
          </a:ln>
        </p:spPr>
      </p:sp>
      <p:sp>
        <p:nvSpPr>
          <p:cNvPr id="1048628" name="Text 26"/>
          <p:cNvSpPr/>
          <p:nvPr/>
        </p:nvSpPr>
        <p:spPr>
          <a:xfrm>
            <a:off x="4287393" y="3474720"/>
            <a:ext cx="59436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5B8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dirty="0" sz="1000" lang="en-US"/>
          </a:p>
        </p:txBody>
      </p:sp>
      <p:sp>
        <p:nvSpPr>
          <p:cNvPr id="1048629" name="Text 27"/>
          <p:cNvSpPr/>
          <p:nvPr/>
        </p:nvSpPr>
        <p:spPr>
          <a:xfrm>
            <a:off x="365760" y="3858768"/>
            <a:ext cx="292608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Healthcare Rep </a:t>
            </a:r>
            <a:endParaRPr dirty="0" sz="1050" lang="en-US"/>
          </a:p>
        </p:txBody>
      </p:sp>
      <p:sp>
        <p:nvSpPr>
          <p:cNvPr id="1048630" name="Shape 28"/>
          <p:cNvSpPr/>
          <p:nvPr/>
        </p:nvSpPr>
        <p:spPr>
          <a:xfrm>
            <a:off x="3337560" y="3913632"/>
            <a:ext cx="5029200" cy="256032"/>
          </a:xfrm>
          <a:prstGeom prst="roundRect">
            <a:avLst>
              <a:gd name="adj" fmla="val 17857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048631" name="Shape 29"/>
          <p:cNvSpPr/>
          <p:nvPr/>
        </p:nvSpPr>
        <p:spPr>
          <a:xfrm>
            <a:off x="3337560" y="3913632"/>
            <a:ext cx="867537" cy="256032"/>
          </a:xfrm>
          <a:prstGeom prst="roundRect">
            <a:avLst>
              <a:gd name="adj" fmla="val 17857"/>
            </a:avLst>
          </a:prstGeom>
          <a:solidFill>
            <a:srgbClr val="5B8FD6"/>
          </a:solidFill>
          <a:ln w="12700">
            <a:solidFill>
              <a:srgbClr val="5B8FD6"/>
            </a:solidFill>
            <a:prstDash val="solid"/>
          </a:ln>
        </p:spPr>
      </p:sp>
      <p:sp>
        <p:nvSpPr>
          <p:cNvPr id="1048632" name="Text 30"/>
          <p:cNvSpPr/>
          <p:nvPr/>
        </p:nvSpPr>
        <p:spPr>
          <a:xfrm>
            <a:off x="4287393" y="3922776"/>
            <a:ext cx="59436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5B8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dirty="0" sz="1000" lang="en-US"/>
          </a:p>
        </p:txBody>
      </p:sp>
      <p:sp>
        <p:nvSpPr>
          <p:cNvPr id="1048633" name="Text 31"/>
          <p:cNvSpPr/>
          <p:nvPr/>
        </p:nvSpPr>
        <p:spPr>
          <a:xfrm>
            <a:off x="365760" y="4306824"/>
            <a:ext cx="292608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Research Director </a:t>
            </a:r>
            <a:endParaRPr dirty="0" sz="1050" lang="en-US"/>
          </a:p>
        </p:txBody>
      </p:sp>
      <p:sp>
        <p:nvSpPr>
          <p:cNvPr id="1048634" name="Shape 32"/>
          <p:cNvSpPr/>
          <p:nvPr/>
        </p:nvSpPr>
        <p:spPr>
          <a:xfrm>
            <a:off x="3337560" y="4361688"/>
            <a:ext cx="5029200" cy="256032"/>
          </a:xfrm>
          <a:prstGeom prst="roundRect">
            <a:avLst>
              <a:gd name="adj" fmla="val 17857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048635" name="Shape 33"/>
          <p:cNvSpPr/>
          <p:nvPr/>
        </p:nvSpPr>
        <p:spPr>
          <a:xfrm>
            <a:off x="3337560" y="4361688"/>
            <a:ext cx="314325" cy="256032"/>
          </a:xfrm>
          <a:prstGeom prst="roundRect">
            <a:avLst>
              <a:gd name="adj" fmla="val 17857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1048636" name="Text 34"/>
          <p:cNvSpPr/>
          <p:nvPr/>
        </p:nvSpPr>
        <p:spPr>
          <a:xfrm>
            <a:off x="3734181" y="4370832"/>
            <a:ext cx="594360" cy="23774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00" lang="en-US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</a:t>
            </a:r>
            <a:endParaRPr dirty="0" sz="1000" lang="en-US"/>
          </a:p>
        </p:txBody>
      </p:sp>
      <p:sp>
        <p:nvSpPr>
          <p:cNvPr id="1048637" name="Text 36"/>
          <p:cNvSpPr/>
          <p:nvPr/>
        </p:nvSpPr>
        <p:spPr>
          <a:xfrm>
            <a:off x="548640" y="4709160"/>
            <a:ext cx="804672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Almost </a:t>
            </a:r>
            <a:r>
              <a:rPr dirty="0" sz="105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40% of Sales Representatives leave every </a:t>
            </a:r>
            <a:r>
              <a:rPr dirty="0" sz="1050" lang="en-US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year,  </a:t>
            </a:r>
            <a:r>
              <a:rPr dirty="0" sz="105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that's </a:t>
            </a:r>
            <a:r>
              <a:rPr dirty="0" sz="1050" lang="en-US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r>
              <a:rPr dirty="0" sz="1050" lang="en-US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dirty="0" sz="105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 in every 5 </a:t>
            </a:r>
            <a:r>
              <a:rPr dirty="0" sz="1050" lang="en-US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people.</a:t>
            </a:r>
            <a:endParaRPr dirty="0" sz="105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ext 1"/>
          <p:cNvSpPr/>
          <p:nvPr/>
        </p:nvSpPr>
        <p:spPr>
          <a:xfrm>
            <a:off x="365760" y="201168"/>
            <a:ext cx="82296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 smtClean="0"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Why </a:t>
            </a:r>
            <a:r>
              <a:rPr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are they leaving?</a:t>
            </a:r>
            <a:r>
              <a:rPr altLang="en-GB"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</a:t>
            </a:r>
            <a:r>
              <a:rPr altLang="en-GB"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From </a:t>
            </a:r>
            <a:r>
              <a:rPr altLang="en-GB"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the </a:t>
            </a:r>
            <a:r>
              <a:rPr altLang="en-GB"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r>
              <a:rPr altLang="en-GB"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r>
              <a:rPr altLang="en-GB"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r>
              <a:rPr altLang="en-GB"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lysis</a:t>
            </a:r>
            <a:r>
              <a:rPr altLang="en-GB"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:</a:t>
            </a:r>
            <a:endParaRPr dirty="0" sz="2200" lang="en-US"/>
          </a:p>
        </p:txBody>
      </p:sp>
      <p:sp>
        <p:nvSpPr>
          <p:cNvPr id="1048642" name="Text 4"/>
          <p:cNvSpPr/>
          <p:nvPr/>
        </p:nvSpPr>
        <p:spPr>
          <a:xfrm>
            <a:off x="457200" y="1755648"/>
            <a:ext cx="246888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Too Much Overtime</a:t>
            </a:r>
            <a:endParaRPr dirty="0" sz="1400" lang="en-US"/>
          </a:p>
        </p:txBody>
      </p:sp>
      <p:sp>
        <p:nvSpPr>
          <p:cNvPr id="1048643" name="Shape 5"/>
          <p:cNvSpPr/>
          <p:nvPr/>
        </p:nvSpPr>
        <p:spPr>
          <a:xfrm>
            <a:off x="548640" y="237744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644" name="Text 6"/>
          <p:cNvSpPr/>
          <p:nvPr/>
        </p:nvSpPr>
        <p:spPr>
          <a:xfrm>
            <a:off x="548640" y="2404872"/>
            <a:ext cx="228600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30.5% vs 10.4%</a:t>
            </a:r>
            <a:endParaRPr dirty="0" sz="1300" lang="en-US"/>
          </a:p>
        </p:txBody>
      </p:sp>
      <p:sp>
        <p:nvSpPr>
          <p:cNvPr id="1048645" name="Text 7"/>
          <p:cNvSpPr/>
          <p:nvPr/>
        </p:nvSpPr>
        <p:spPr>
          <a:xfrm>
            <a:off x="457200" y="2944368"/>
            <a:ext cx="2468880" cy="1691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working overtime leave at nearly 3 times the rate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 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rking 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That's a huge </a:t>
            </a:r>
            <a:r>
              <a:rPr dirty="0" sz="1100" lang="en-US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difference.</a:t>
            </a:r>
            <a:endParaRPr dirty="0" sz="1100" lang="en-US"/>
          </a:p>
        </p:txBody>
      </p:sp>
      <p:sp>
        <p:nvSpPr>
          <p:cNvPr id="1048646" name="Text 9"/>
          <p:cNvSpPr/>
          <p:nvPr/>
        </p:nvSpPr>
        <p:spPr>
          <a:xfrm>
            <a:off x="3246120" y="1188720"/>
            <a:ext cx="274320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endParaRPr dirty="0" sz="2800" lang="en-US"/>
          </a:p>
        </p:txBody>
      </p:sp>
      <p:sp>
        <p:nvSpPr>
          <p:cNvPr id="1048647" name="Text 10"/>
          <p:cNvSpPr/>
          <p:nvPr/>
        </p:nvSpPr>
        <p:spPr>
          <a:xfrm>
            <a:off x="3383280" y="1755648"/>
            <a:ext cx="246888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Frequent Business Travel</a:t>
            </a:r>
            <a:endParaRPr dirty="0" sz="1400" lang="en-US"/>
          </a:p>
        </p:txBody>
      </p:sp>
      <p:sp>
        <p:nvSpPr>
          <p:cNvPr id="1048648" name="Shape 11"/>
          <p:cNvSpPr/>
          <p:nvPr/>
        </p:nvSpPr>
        <p:spPr>
          <a:xfrm>
            <a:off x="3474720" y="237744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649" name="Text 12"/>
          <p:cNvSpPr/>
          <p:nvPr/>
        </p:nvSpPr>
        <p:spPr>
          <a:xfrm>
            <a:off x="3474720" y="2404872"/>
            <a:ext cx="228600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24.9% vs 8.0%</a:t>
            </a:r>
            <a:endParaRPr dirty="0" sz="1300" lang="en-US"/>
          </a:p>
        </p:txBody>
      </p:sp>
      <p:sp>
        <p:nvSpPr>
          <p:cNvPr id="1048650" name="Text 13"/>
          <p:cNvSpPr/>
          <p:nvPr/>
        </p:nvSpPr>
        <p:spPr>
          <a:xfrm>
            <a:off x="3383280" y="2944368"/>
            <a:ext cx="2468880" cy="1691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travel a lot for work leave over 3× more than those who don't travel at all.</a:t>
            </a:r>
            <a:endParaRPr dirty="0" sz="1100" lang="en-US"/>
          </a:p>
        </p:txBody>
      </p:sp>
      <p:sp>
        <p:nvSpPr>
          <p:cNvPr id="1048651" name="Text 15"/>
          <p:cNvSpPr/>
          <p:nvPr/>
        </p:nvSpPr>
        <p:spPr>
          <a:xfrm>
            <a:off x="6172200" y="1188720"/>
            <a:ext cx="274320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endParaRPr dirty="0" sz="2800" lang="en-US"/>
          </a:p>
        </p:txBody>
      </p:sp>
      <p:sp>
        <p:nvSpPr>
          <p:cNvPr id="1048652" name="Text 16"/>
          <p:cNvSpPr/>
          <p:nvPr/>
        </p:nvSpPr>
        <p:spPr>
          <a:xfrm>
            <a:off x="6309360" y="1755648"/>
            <a:ext cx="246888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Lower Pay</a:t>
            </a:r>
            <a:endParaRPr dirty="0" sz="1400" lang="en-US"/>
          </a:p>
        </p:txBody>
      </p:sp>
      <p:sp>
        <p:nvSpPr>
          <p:cNvPr id="1048653" name="Shape 17"/>
          <p:cNvSpPr/>
          <p:nvPr/>
        </p:nvSpPr>
        <p:spPr>
          <a:xfrm>
            <a:off x="6400800" y="237744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654" name="Text 18"/>
          <p:cNvSpPr/>
          <p:nvPr/>
        </p:nvSpPr>
        <p:spPr>
          <a:xfrm>
            <a:off x="6400800" y="2404872"/>
            <a:ext cx="228600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altLang="en-GB" b="1" dirty="0" sz="130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r>
              <a:rPr b="1" dirty="0" sz="130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4,787 vs </a:t>
            </a:r>
            <a:r>
              <a:rPr altLang="en-GB" b="1" dirty="0" sz="130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r>
              <a:rPr altLang="en-GB" b="1" dirty="0" sz="130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b="1" dirty="0" sz="1300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,833/mo</a:t>
            </a:r>
            <a:endParaRPr dirty="0" sz="1300" lang="en-US"/>
          </a:p>
        </p:txBody>
      </p:sp>
      <p:sp>
        <p:nvSpPr>
          <p:cNvPr id="1048655" name="Text 19"/>
          <p:cNvSpPr/>
          <p:nvPr/>
        </p:nvSpPr>
        <p:spPr>
          <a:xfrm>
            <a:off x="6309360" y="2944368"/>
            <a:ext cx="2468880" cy="1691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Employees who left earned $2,046 less per month than those who stayed. That's over 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r>
              <a:rPr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</a:t>
            </a:r>
            <a:r>
              <a:rPr dirty="0" sz="1100" lang="en-US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year.</a:t>
            </a:r>
            <a:endParaRPr dirty="0" sz="11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0"/>
        </a:solidFill>
        <a:effectLst/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ext 0"/>
          <p:cNvSpPr/>
          <p:nvPr/>
        </p:nvSpPr>
        <p:spPr>
          <a:xfrm>
            <a:off x="365760" y="164592"/>
            <a:ext cx="822960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 smtClean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What </a:t>
            </a:r>
            <a:r>
              <a:rPr b="1" dirty="0" sz="2200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makes people STAY?</a:t>
            </a:r>
            <a:endParaRPr dirty="0" sz="2200" lang="en-US"/>
          </a:p>
        </p:txBody>
      </p:sp>
      <p:sp>
        <p:nvSpPr>
          <p:cNvPr id="1048660" name="Shape 1"/>
          <p:cNvSpPr/>
          <p:nvPr/>
        </p:nvSpPr>
        <p:spPr>
          <a:xfrm>
            <a:off x="365760" y="676656"/>
            <a:ext cx="8412480" cy="36576"/>
          </a:xfrm>
          <a:prstGeom prst="rect"/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48661" name="Text 3"/>
          <p:cNvSpPr/>
          <p:nvPr/>
        </p:nvSpPr>
        <p:spPr>
          <a:xfrm>
            <a:off x="548640" y="914400"/>
            <a:ext cx="374904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 smtClean="0"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</a:t>
            </a:r>
            <a:r>
              <a:rPr b="1" dirty="0" sz="13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Stock Options</a:t>
            </a:r>
            <a:r>
              <a:rPr altLang="en-GB" b="1" dirty="0" sz="13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dirty="0" sz="1300" lang="en-US"/>
          </a:p>
        </p:txBody>
      </p:sp>
      <p:sp>
        <p:nvSpPr>
          <p:cNvPr id="1048662" name="Text 4"/>
          <p:cNvSpPr/>
          <p:nvPr/>
        </p:nvSpPr>
        <p:spPr>
          <a:xfrm>
            <a:off x="548640" y="1481328"/>
            <a:ext cx="320040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 options</a:t>
            </a:r>
            <a:endParaRPr dirty="0" sz="1050" lang="en-US"/>
          </a:p>
        </p:txBody>
      </p:sp>
      <p:sp>
        <p:nvSpPr>
          <p:cNvPr id="1048663" name="Shape 5"/>
          <p:cNvSpPr/>
          <p:nvPr/>
        </p:nvSpPr>
        <p:spPr>
          <a:xfrm>
            <a:off x="548640" y="1755648"/>
            <a:ext cx="3108960" cy="228600"/>
          </a:xfrm>
          <a:prstGeom prst="roundRect">
            <a:avLst>
              <a:gd name="adj" fmla="val 20000"/>
            </a:avLst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48664" name="Shape 6"/>
          <p:cNvSpPr/>
          <p:nvPr/>
        </p:nvSpPr>
        <p:spPr>
          <a:xfrm>
            <a:off x="548640" y="1755648"/>
            <a:ext cx="3034345" cy="228600"/>
          </a:xfrm>
          <a:prstGeom prst="roundRect">
            <a:avLst>
              <a:gd name="adj" fmla="val 20000"/>
            </a:avLst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048665" name="Text 7"/>
          <p:cNvSpPr/>
          <p:nvPr/>
        </p:nvSpPr>
        <p:spPr>
          <a:xfrm>
            <a:off x="3656137" y="1755648"/>
            <a:ext cx="137160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 attrition</a:t>
            </a:r>
            <a:endParaRPr dirty="0" sz="950" lang="en-US"/>
          </a:p>
        </p:txBody>
      </p:sp>
      <p:sp>
        <p:nvSpPr>
          <p:cNvPr id="1048666" name="Text 8"/>
          <p:cNvSpPr/>
          <p:nvPr/>
        </p:nvSpPr>
        <p:spPr>
          <a:xfrm>
            <a:off x="548640" y="2139696"/>
            <a:ext cx="320040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grant</a:t>
            </a:r>
            <a:endParaRPr dirty="0" sz="1050" lang="en-US"/>
          </a:p>
        </p:txBody>
      </p:sp>
      <p:sp>
        <p:nvSpPr>
          <p:cNvPr id="1048667" name="Shape 9"/>
          <p:cNvSpPr/>
          <p:nvPr/>
        </p:nvSpPr>
        <p:spPr>
          <a:xfrm>
            <a:off x="548640" y="2414016"/>
            <a:ext cx="3108960" cy="228600"/>
          </a:xfrm>
          <a:prstGeom prst="roundRect">
            <a:avLst>
              <a:gd name="adj" fmla="val 20000"/>
            </a:avLst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48668" name="Shape 10"/>
          <p:cNvSpPr/>
          <p:nvPr/>
        </p:nvSpPr>
        <p:spPr>
          <a:xfrm>
            <a:off x="548640" y="2414016"/>
            <a:ext cx="1168969" cy="228600"/>
          </a:xfrm>
          <a:prstGeom prst="roundRect">
            <a:avLst>
              <a:gd name="adj" fmla="val 20000"/>
            </a:avLst>
          </a:prstGeom>
          <a:solidFill>
            <a:srgbClr val="5BB8A0"/>
          </a:solidFill>
          <a:ln w="12700">
            <a:solidFill>
              <a:srgbClr val="5BB8A0"/>
            </a:solidFill>
            <a:prstDash val="solid"/>
          </a:ln>
        </p:spPr>
      </p:sp>
      <p:sp>
        <p:nvSpPr>
          <p:cNvPr id="1048669" name="Text 11"/>
          <p:cNvSpPr/>
          <p:nvPr/>
        </p:nvSpPr>
        <p:spPr>
          <a:xfrm>
            <a:off x="1790761" y="2414016"/>
            <a:ext cx="137160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5B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9.4% attrition</a:t>
            </a:r>
            <a:endParaRPr dirty="0" sz="950" lang="en-US"/>
          </a:p>
        </p:txBody>
      </p:sp>
      <p:sp>
        <p:nvSpPr>
          <p:cNvPr id="1048670" name="Text 12"/>
          <p:cNvSpPr/>
          <p:nvPr/>
        </p:nvSpPr>
        <p:spPr>
          <a:xfrm>
            <a:off x="548640" y="2798064"/>
            <a:ext cx="320040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grant</a:t>
            </a:r>
            <a:endParaRPr dirty="0" sz="1050" lang="en-US"/>
          </a:p>
        </p:txBody>
      </p:sp>
      <p:sp>
        <p:nvSpPr>
          <p:cNvPr id="1048671" name="Shape 13"/>
          <p:cNvSpPr/>
          <p:nvPr/>
        </p:nvSpPr>
        <p:spPr>
          <a:xfrm>
            <a:off x="548640" y="3072384"/>
            <a:ext cx="3108960" cy="228600"/>
          </a:xfrm>
          <a:prstGeom prst="roundRect">
            <a:avLst>
              <a:gd name="adj" fmla="val 20000"/>
            </a:avLst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48672" name="Shape 14"/>
          <p:cNvSpPr/>
          <p:nvPr/>
        </p:nvSpPr>
        <p:spPr>
          <a:xfrm>
            <a:off x="548640" y="3072384"/>
            <a:ext cx="945124" cy="228600"/>
          </a:xfrm>
          <a:prstGeom prst="roundRect">
            <a:avLst>
              <a:gd name="adj" fmla="val 20000"/>
            </a:avLst>
          </a:prstGeom>
          <a:solidFill>
            <a:srgbClr val="5BAD7A"/>
          </a:solidFill>
          <a:ln w="12700">
            <a:solidFill>
              <a:srgbClr val="5BAD7A"/>
            </a:solidFill>
            <a:prstDash val="solid"/>
          </a:ln>
        </p:spPr>
      </p:sp>
      <p:sp>
        <p:nvSpPr>
          <p:cNvPr id="1048673" name="Text 15"/>
          <p:cNvSpPr/>
          <p:nvPr/>
        </p:nvSpPr>
        <p:spPr>
          <a:xfrm>
            <a:off x="1566916" y="3072384"/>
            <a:ext cx="137160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5BA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7.6% attrition</a:t>
            </a:r>
            <a:endParaRPr dirty="0" sz="950" lang="en-US"/>
          </a:p>
        </p:txBody>
      </p:sp>
      <p:sp>
        <p:nvSpPr>
          <p:cNvPr id="1048674" name="Text 16"/>
          <p:cNvSpPr/>
          <p:nvPr/>
        </p:nvSpPr>
        <p:spPr>
          <a:xfrm>
            <a:off x="548640" y="3456432"/>
            <a:ext cx="320040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grant</a:t>
            </a:r>
            <a:endParaRPr dirty="0" sz="1050" lang="en-US"/>
          </a:p>
        </p:txBody>
      </p:sp>
      <p:sp>
        <p:nvSpPr>
          <p:cNvPr id="1048675" name="Shape 17"/>
          <p:cNvSpPr/>
          <p:nvPr/>
        </p:nvSpPr>
        <p:spPr>
          <a:xfrm>
            <a:off x="548640" y="3730752"/>
            <a:ext cx="3108960" cy="228600"/>
          </a:xfrm>
          <a:prstGeom prst="roundRect">
            <a:avLst>
              <a:gd name="adj" fmla="val 20000"/>
            </a:avLst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48676" name="Shape 18"/>
          <p:cNvSpPr/>
          <p:nvPr/>
        </p:nvSpPr>
        <p:spPr>
          <a:xfrm>
            <a:off x="548640" y="3730752"/>
            <a:ext cx="2188708" cy="228600"/>
          </a:xfrm>
          <a:prstGeom prst="roundRect">
            <a:avLst>
              <a:gd name="adj" fmla="val 20000"/>
            </a:avLst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048677" name="Text 19"/>
          <p:cNvSpPr/>
          <p:nvPr/>
        </p:nvSpPr>
        <p:spPr>
          <a:xfrm>
            <a:off x="2810500" y="3730752"/>
            <a:ext cx="137160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950" lang="en-US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17.6% attrition</a:t>
            </a:r>
            <a:endParaRPr dirty="0" sz="950" lang="en-US"/>
          </a:p>
        </p:txBody>
      </p:sp>
      <p:sp>
        <p:nvSpPr>
          <p:cNvPr id="1048678" name="Text 23"/>
          <p:cNvSpPr/>
          <p:nvPr/>
        </p:nvSpPr>
        <p:spPr>
          <a:xfrm>
            <a:off x="4846320" y="914400"/>
            <a:ext cx="374904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lang="en-US" smtClean="0"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</a:t>
            </a:r>
            <a:r>
              <a:rPr b="1" dirty="0" sz="13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Satisfaction </a:t>
            </a:r>
            <a:r>
              <a:rPr b="1" dirty="0" sz="1300" lang="en-US" smtClean="0">
                <a:latin typeface="Georgia" pitchFamily="34" charset="0"/>
                <a:ea typeface="Georgia" pitchFamily="34" charset="-122"/>
                <a:cs typeface="Georgia" pitchFamily="34" charset="-120"/>
              </a:rPr>
              <a:t>Scores</a:t>
            </a:r>
            <a:endParaRPr dirty="0" sz="1300" lang="en-US"/>
          </a:p>
        </p:txBody>
      </p:sp>
      <p:sp>
        <p:nvSpPr>
          <p:cNvPr id="1048679" name="Text 24"/>
          <p:cNvSpPr/>
          <p:nvPr/>
        </p:nvSpPr>
        <p:spPr>
          <a:xfrm>
            <a:off x="4846320" y="1389888"/>
            <a:ext cx="3749040" cy="5029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left consistently scored lower on job and environment satisfaction.</a:t>
            </a:r>
            <a:endParaRPr dirty="0" sz="1050" lang="en-US"/>
          </a:p>
        </p:txBody>
      </p:sp>
      <p:sp>
        <p:nvSpPr>
          <p:cNvPr id="1048680" name="Text 25"/>
          <p:cNvSpPr/>
          <p:nvPr/>
        </p:nvSpPr>
        <p:spPr>
          <a:xfrm>
            <a:off x="4846320" y="2011680"/>
            <a:ext cx="365760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</a:t>
            </a:r>
            <a:endParaRPr dirty="0" sz="1050" lang="en-US"/>
          </a:p>
        </p:txBody>
      </p:sp>
      <p:sp>
        <p:nvSpPr>
          <p:cNvPr id="1048681" name="Shape 26"/>
          <p:cNvSpPr/>
          <p:nvPr/>
        </p:nvSpPr>
        <p:spPr>
          <a:xfrm>
            <a:off x="4846320" y="2286000"/>
            <a:ext cx="2224278" cy="182880"/>
          </a:xfrm>
          <a:prstGeom prst="roundRect">
            <a:avLst>
              <a:gd name="adj" fmla="val 20000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1048682" name="Text 27"/>
          <p:cNvSpPr/>
          <p:nvPr/>
        </p:nvSpPr>
        <p:spPr>
          <a:xfrm>
            <a:off x="7143750" y="2286000"/>
            <a:ext cx="1097280" cy="1828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2.78</a:t>
            </a:r>
            <a:endParaRPr dirty="0" sz="900" lang="en-US"/>
          </a:p>
        </p:txBody>
      </p:sp>
      <p:sp>
        <p:nvSpPr>
          <p:cNvPr id="1048683" name="Shape 28"/>
          <p:cNvSpPr/>
          <p:nvPr/>
        </p:nvSpPr>
        <p:spPr>
          <a:xfrm>
            <a:off x="4846320" y="2505456"/>
            <a:ext cx="1976247" cy="182880"/>
          </a:xfrm>
          <a:prstGeom prst="roundRect">
            <a:avLst>
              <a:gd name="adj" fmla="val 20000"/>
            </a:avLst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048684" name="Text 29"/>
          <p:cNvSpPr/>
          <p:nvPr/>
        </p:nvSpPr>
        <p:spPr>
          <a:xfrm>
            <a:off x="6895719" y="2505456"/>
            <a:ext cx="1097280" cy="1828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2.47</a:t>
            </a:r>
            <a:endParaRPr dirty="0" sz="900" lang="en-US"/>
          </a:p>
        </p:txBody>
      </p:sp>
      <p:sp>
        <p:nvSpPr>
          <p:cNvPr id="1048685" name="Text 30"/>
          <p:cNvSpPr/>
          <p:nvPr/>
        </p:nvSpPr>
        <p:spPr>
          <a:xfrm>
            <a:off x="4846320" y="2834640"/>
            <a:ext cx="365760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 Satisfaction</a:t>
            </a:r>
            <a:endParaRPr dirty="0" sz="1050" lang="en-US"/>
          </a:p>
        </p:txBody>
      </p:sp>
      <p:sp>
        <p:nvSpPr>
          <p:cNvPr id="1048686" name="Shape 31"/>
          <p:cNvSpPr/>
          <p:nvPr/>
        </p:nvSpPr>
        <p:spPr>
          <a:xfrm>
            <a:off x="4846320" y="3108960"/>
            <a:ext cx="2216277" cy="182880"/>
          </a:xfrm>
          <a:prstGeom prst="roundRect">
            <a:avLst>
              <a:gd name="adj" fmla="val 20000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1048687" name="Text 32"/>
          <p:cNvSpPr/>
          <p:nvPr/>
        </p:nvSpPr>
        <p:spPr>
          <a:xfrm>
            <a:off x="7135749" y="3108960"/>
            <a:ext cx="1097280" cy="1828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2.77</a:t>
            </a:r>
            <a:endParaRPr dirty="0" sz="900" lang="en-US"/>
          </a:p>
        </p:txBody>
      </p:sp>
      <p:sp>
        <p:nvSpPr>
          <p:cNvPr id="1048688" name="Shape 33"/>
          <p:cNvSpPr/>
          <p:nvPr/>
        </p:nvSpPr>
        <p:spPr>
          <a:xfrm>
            <a:off x="4846320" y="3328416"/>
            <a:ext cx="1968246" cy="182880"/>
          </a:xfrm>
          <a:prstGeom prst="roundRect">
            <a:avLst>
              <a:gd name="adj" fmla="val 20000"/>
            </a:avLst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048689" name="Text 34"/>
          <p:cNvSpPr/>
          <p:nvPr/>
        </p:nvSpPr>
        <p:spPr>
          <a:xfrm>
            <a:off x="6887718" y="3328416"/>
            <a:ext cx="1097280" cy="1828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2.46</a:t>
            </a:r>
            <a:endParaRPr dirty="0" sz="900" lang="en-US"/>
          </a:p>
        </p:txBody>
      </p:sp>
      <p:sp>
        <p:nvSpPr>
          <p:cNvPr id="1048690" name="Text 35"/>
          <p:cNvSpPr/>
          <p:nvPr/>
        </p:nvSpPr>
        <p:spPr>
          <a:xfrm>
            <a:off x="4846320" y="3657600"/>
            <a:ext cx="365760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Sat.</a:t>
            </a:r>
            <a:endParaRPr dirty="0" sz="1050" lang="en-US"/>
          </a:p>
        </p:txBody>
      </p:sp>
      <p:sp>
        <p:nvSpPr>
          <p:cNvPr id="1048691" name="Shape 36"/>
          <p:cNvSpPr/>
          <p:nvPr/>
        </p:nvSpPr>
        <p:spPr>
          <a:xfrm>
            <a:off x="4846320" y="3931920"/>
            <a:ext cx="2184273" cy="182880"/>
          </a:xfrm>
          <a:prstGeom prst="roundRect">
            <a:avLst>
              <a:gd name="adj" fmla="val 20000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1048692" name="Text 37"/>
          <p:cNvSpPr/>
          <p:nvPr/>
        </p:nvSpPr>
        <p:spPr>
          <a:xfrm>
            <a:off x="7103745" y="3931920"/>
            <a:ext cx="1097280" cy="1828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2.73</a:t>
            </a:r>
            <a:endParaRPr dirty="0" sz="900" lang="en-US"/>
          </a:p>
        </p:txBody>
      </p:sp>
      <p:sp>
        <p:nvSpPr>
          <p:cNvPr id="1048693" name="Shape 38"/>
          <p:cNvSpPr/>
          <p:nvPr/>
        </p:nvSpPr>
        <p:spPr>
          <a:xfrm>
            <a:off x="4846320" y="4151376"/>
            <a:ext cx="2080260" cy="182880"/>
          </a:xfrm>
          <a:prstGeom prst="roundRect">
            <a:avLst>
              <a:gd name="adj" fmla="val 20000"/>
            </a:avLst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048694" name="Text 39"/>
          <p:cNvSpPr/>
          <p:nvPr/>
        </p:nvSpPr>
        <p:spPr>
          <a:xfrm>
            <a:off x="6999732" y="4151376"/>
            <a:ext cx="1097280" cy="1828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00" lang="en-US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2.6</a:t>
            </a:r>
            <a:endParaRPr dirty="0" sz="900" lang="en-US"/>
          </a:p>
        </p:txBody>
      </p:sp>
      <p:sp>
        <p:nvSpPr>
          <p:cNvPr id="1048695" name=""/>
          <p:cNvSpPr txBox="1"/>
          <p:nvPr/>
        </p:nvSpPr>
        <p:spPr>
          <a:xfrm>
            <a:off x="548640" y="4270248"/>
            <a:ext cx="4572000" cy="370839"/>
          </a:xfrm>
          <a:prstGeom prst="rect"/>
        </p:spPr>
        <p:txBody>
          <a:bodyPr rtlCol="0" wrap="square">
            <a:spAutoFit/>
          </a:bodyPr>
          <a:p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 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 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 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ion 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ck 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altLang="en-GB" dirty="0" sz="105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sz="2800"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Text 1"/>
          <p:cNvSpPr/>
          <p:nvPr/>
        </p:nvSpPr>
        <p:spPr>
          <a:xfrm>
            <a:off x="365760" y="201168"/>
            <a:ext cx="82296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 smtClean="0"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</a:t>
            </a:r>
            <a:r>
              <a:rPr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What should TechCrush do?</a:t>
            </a:r>
            <a:r>
              <a:rPr altLang="en-GB"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</a:t>
            </a:r>
            <a:r>
              <a:rPr altLang="en-GB"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r>
              <a:rPr altLang="en-GB"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r>
              <a:rPr altLang="en-GB"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r>
              <a:rPr altLang="en-GB"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r>
              <a:rPr altLang="en-GB"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r>
              <a:rPr altLang="en-GB"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r>
              <a:rPr altLang="en-GB" b="1" dirty="0" sz="22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endation </a:t>
            </a:r>
            <a:endParaRPr dirty="0" sz="2200" lang="en-US"/>
          </a:p>
        </p:txBody>
      </p:sp>
      <p:sp>
        <p:nvSpPr>
          <p:cNvPr id="1048700" name="Text 4"/>
          <p:cNvSpPr/>
          <p:nvPr/>
        </p:nvSpPr>
        <p:spPr>
          <a:xfrm>
            <a:off x="662940" y="749808"/>
            <a:ext cx="3459892" cy="42062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Overtime</a:t>
            </a:r>
            <a:endParaRPr dirty="0" sz="1200" lang="en-US"/>
          </a:p>
        </p:txBody>
      </p:sp>
      <p:sp>
        <p:nvSpPr>
          <p:cNvPr id="1048701" name="Text 5"/>
          <p:cNvSpPr/>
          <p:nvPr/>
        </p:nvSpPr>
        <p:spPr>
          <a:xfrm>
            <a:off x="662940" y="992124"/>
            <a:ext cx="3429000" cy="6126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which teams are overloaded and hire more people. Also give staff time off when they work extra</a:t>
            </a:r>
            <a:r>
              <a:rPr dirty="0" sz="1000" lang="en-US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indent="0" marL="0">
              <a:buNone/>
            </a:pPr>
            <a:endParaRPr dirty="0" sz="1000" lang="en-US"/>
          </a:p>
        </p:txBody>
      </p:sp>
      <p:sp>
        <p:nvSpPr>
          <p:cNvPr id="1048702" name="Text 7"/>
          <p:cNvSpPr/>
          <p:nvPr/>
        </p:nvSpPr>
        <p:spPr>
          <a:xfrm>
            <a:off x="4846320" y="1188720"/>
            <a:ext cx="685800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endParaRPr dirty="0" sz="2200" lang="en-US"/>
          </a:p>
        </p:txBody>
      </p:sp>
      <p:sp>
        <p:nvSpPr>
          <p:cNvPr id="1048703" name="Text 8"/>
          <p:cNvSpPr/>
          <p:nvPr/>
        </p:nvSpPr>
        <p:spPr>
          <a:xfrm>
            <a:off x="649224" y="2705512"/>
            <a:ext cx="342900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Stock Options to Everyone</a:t>
            </a:r>
            <a:endParaRPr dirty="0" sz="1200" lang="en-US"/>
          </a:p>
        </p:txBody>
      </p:sp>
      <p:sp>
        <p:nvSpPr>
          <p:cNvPr id="1048704" name="Text 9"/>
          <p:cNvSpPr/>
          <p:nvPr/>
        </p:nvSpPr>
        <p:spPr>
          <a:xfrm>
            <a:off x="635508" y="2797137"/>
            <a:ext cx="3429000" cy="6583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giving a small Level 1 grant to entry-level staff cuts attrition in half. Very cost-effective</a:t>
            </a:r>
            <a:r>
              <a:rPr dirty="0" sz="1000" lang="en-US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indent="0" marL="0">
              <a:buNone/>
            </a:pPr>
            <a:endParaRPr dirty="0" sz="1000" lang="en-US"/>
          </a:p>
        </p:txBody>
      </p:sp>
      <p:sp>
        <p:nvSpPr>
          <p:cNvPr id="1048705" name="Text 11"/>
          <p:cNvSpPr/>
          <p:nvPr/>
        </p:nvSpPr>
        <p:spPr>
          <a:xfrm>
            <a:off x="320040" y="2487168"/>
            <a:ext cx="685800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endParaRPr dirty="0" sz="2200" lang="en-US"/>
          </a:p>
        </p:txBody>
      </p:sp>
      <p:sp>
        <p:nvSpPr>
          <p:cNvPr id="1048706" name="Text 12"/>
          <p:cNvSpPr/>
          <p:nvPr/>
        </p:nvSpPr>
        <p:spPr>
          <a:xfrm>
            <a:off x="662940" y="1517904"/>
            <a:ext cx="342900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Frontline Staff More</a:t>
            </a:r>
            <a:endParaRPr dirty="0" sz="1200" lang="en-US"/>
          </a:p>
        </p:txBody>
      </p:sp>
      <p:sp>
        <p:nvSpPr>
          <p:cNvPr id="1048707" name="Text 13"/>
          <p:cNvSpPr/>
          <p:nvPr/>
        </p:nvSpPr>
        <p:spPr>
          <a:xfrm>
            <a:off x="662940" y="1621948"/>
            <a:ext cx="3429000" cy="6583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 and Lab Technicians earn much less than average. Compare their salaries to the market</a:t>
            </a:r>
            <a:r>
              <a:rPr dirty="0" sz="1000" lang="en-US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indent="0" marL="0">
              <a:buNone/>
            </a:pPr>
            <a:endParaRPr dirty="0" sz="1000" lang="en-US"/>
          </a:p>
        </p:txBody>
      </p:sp>
      <p:sp>
        <p:nvSpPr>
          <p:cNvPr id="1048708" name="Text 15"/>
          <p:cNvSpPr/>
          <p:nvPr/>
        </p:nvSpPr>
        <p:spPr>
          <a:xfrm>
            <a:off x="4846320" y="2487168"/>
            <a:ext cx="685800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endParaRPr dirty="0" sz="2200" lang="en-US"/>
          </a:p>
        </p:txBody>
      </p:sp>
      <p:sp>
        <p:nvSpPr>
          <p:cNvPr id="1048709" name="Text 16"/>
          <p:cNvSpPr/>
          <p:nvPr/>
        </p:nvSpPr>
        <p:spPr>
          <a:xfrm>
            <a:off x="635508" y="3298760"/>
            <a:ext cx="342900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Business Travel</a:t>
            </a:r>
            <a:endParaRPr dirty="0" sz="1200" lang="en-US"/>
          </a:p>
        </p:txBody>
      </p:sp>
      <p:sp>
        <p:nvSpPr>
          <p:cNvPr id="1048710" name="Text 17"/>
          <p:cNvSpPr/>
          <p:nvPr/>
        </p:nvSpPr>
        <p:spPr>
          <a:xfrm>
            <a:off x="621792" y="3402680"/>
            <a:ext cx="3429000" cy="6583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online meetings more. Set a limit on how many trips employees can make per quarter</a:t>
            </a:r>
            <a:r>
              <a:rPr dirty="0" sz="1000" lang="en-US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indent="0" marL="0">
              <a:buNone/>
            </a:pPr>
            <a:endParaRPr dirty="0" sz="1000" lang="en-US"/>
          </a:p>
        </p:txBody>
      </p:sp>
      <p:sp>
        <p:nvSpPr>
          <p:cNvPr id="1048711" name="Text 20"/>
          <p:cNvSpPr/>
          <p:nvPr/>
        </p:nvSpPr>
        <p:spPr>
          <a:xfrm>
            <a:off x="662940" y="2091752"/>
            <a:ext cx="342900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 in Training</a:t>
            </a:r>
            <a:endParaRPr dirty="0" sz="1200" lang="en-US"/>
          </a:p>
        </p:txBody>
      </p:sp>
      <p:sp>
        <p:nvSpPr>
          <p:cNvPr id="1048712" name="Text 21"/>
          <p:cNvSpPr/>
          <p:nvPr/>
        </p:nvSpPr>
        <p:spPr>
          <a:xfrm>
            <a:off x="662940" y="2256344"/>
            <a:ext cx="3429000" cy="6583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no training leave at almost 28%. Regular training shows staff they are valued</a:t>
            </a:r>
            <a:r>
              <a:rPr dirty="0" sz="1000" lang="en-US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indent="0" marL="0">
              <a:buNone/>
            </a:pPr>
            <a:endParaRPr dirty="0" sz="1000" lang="en-US"/>
          </a:p>
        </p:txBody>
      </p:sp>
      <p:sp>
        <p:nvSpPr>
          <p:cNvPr id="1048713" name="Text 23"/>
          <p:cNvSpPr/>
          <p:nvPr/>
        </p:nvSpPr>
        <p:spPr>
          <a:xfrm>
            <a:off x="4846320" y="3785616"/>
            <a:ext cx="685800" cy="5943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endParaRPr dirty="0" sz="2200" lang="en-US"/>
          </a:p>
        </p:txBody>
      </p:sp>
      <p:sp>
        <p:nvSpPr>
          <p:cNvPr id="1048714" name="Text 24"/>
          <p:cNvSpPr/>
          <p:nvPr/>
        </p:nvSpPr>
        <p:spPr>
          <a:xfrm>
            <a:off x="621792" y="3923394"/>
            <a:ext cx="342900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Career Paths</a:t>
            </a:r>
            <a:endParaRPr dirty="0" sz="1200" lang="en-US"/>
          </a:p>
        </p:txBody>
      </p:sp>
      <p:sp>
        <p:nvSpPr>
          <p:cNvPr id="1048715" name="Text 25"/>
          <p:cNvSpPr/>
          <p:nvPr/>
        </p:nvSpPr>
        <p:spPr>
          <a:xfrm>
            <a:off x="621792" y="4121720"/>
            <a:ext cx="3429000" cy="6583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Employees leaving after 6–8 years feel stuck. Make promotion </a:t>
            </a:r>
            <a:r>
              <a:rPr dirty="0" sz="1000" lang="en-US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requirements </a:t>
            </a:r>
            <a:r>
              <a:rPr dirty="0" sz="10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and visible.</a:t>
            </a:r>
            <a:endParaRPr dirty="0" sz="10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0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ext 2"/>
          <p:cNvSpPr/>
          <p:nvPr/>
        </p:nvSpPr>
        <p:spPr>
          <a:xfrm>
            <a:off x="457200" y="228600"/>
            <a:ext cx="73152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400" lang="en-US" smtClean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What </a:t>
            </a:r>
            <a:r>
              <a:rPr b="1" dirty="0" sz="2400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Learned</a:t>
            </a:r>
            <a:endParaRPr dirty="0" sz="2400" lang="en-US"/>
          </a:p>
        </p:txBody>
      </p:sp>
      <p:sp>
        <p:nvSpPr>
          <p:cNvPr id="1048720" name="Shape 3"/>
          <p:cNvSpPr/>
          <p:nvPr/>
        </p:nvSpPr>
        <p:spPr>
          <a:xfrm>
            <a:off x="457200" y="786384"/>
            <a:ext cx="8229600" cy="36576"/>
          </a:xfrm>
          <a:prstGeom prst="rect"/>
          <a:solidFill>
            <a:schemeClr val="tx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48721" name="Text 7"/>
          <p:cNvSpPr/>
          <p:nvPr/>
        </p:nvSpPr>
        <p:spPr>
          <a:xfrm>
            <a:off x="123825" y="937260"/>
            <a:ext cx="242316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 smtClean="0"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1) Data </a:t>
            </a:r>
            <a:r>
              <a:rPr b="1" dirty="0" sz="13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tells a story</a:t>
            </a:r>
            <a:endParaRPr dirty="0" sz="1300" lang="en-US"/>
          </a:p>
        </p:txBody>
      </p:sp>
      <p:sp>
        <p:nvSpPr>
          <p:cNvPr id="1048722" name="Text 8"/>
          <p:cNvSpPr/>
          <p:nvPr/>
        </p:nvSpPr>
        <p:spPr>
          <a:xfrm>
            <a:off x="548640" y="563880"/>
            <a:ext cx="2331720" cy="22860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Before this project, we thought attrition was random. But the numbers showed very clear patterns 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dirty="0" sz="1100" lang="en-US" smtClean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r>
              <a:rPr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pay, and travel all link directly to people leaving.</a:t>
            </a:r>
            <a:endParaRPr dirty="0" sz="1100" lang="en-US"/>
          </a:p>
        </p:txBody>
      </p:sp>
      <p:sp>
        <p:nvSpPr>
          <p:cNvPr id="1048723" name="Text 11"/>
          <p:cNvSpPr/>
          <p:nvPr/>
        </p:nvSpPr>
        <p:spPr>
          <a:xfrm>
            <a:off x="4251960" y="1097280"/>
            <a:ext cx="68580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dirty="0" sz="1800" lang="en-US"/>
          </a:p>
        </p:txBody>
      </p:sp>
      <p:sp>
        <p:nvSpPr>
          <p:cNvPr id="1048724" name="Text 12"/>
          <p:cNvSpPr/>
          <p:nvPr/>
        </p:nvSpPr>
        <p:spPr>
          <a:xfrm>
            <a:off x="365760" y="2891790"/>
            <a:ext cx="242316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 smtClean="0"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2) One </a:t>
            </a:r>
            <a:r>
              <a:rPr b="1" dirty="0" sz="13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size doesn't fit all</a:t>
            </a:r>
            <a:endParaRPr dirty="0" sz="1300" lang="en-US"/>
          </a:p>
        </p:txBody>
      </p:sp>
      <p:sp>
        <p:nvSpPr>
          <p:cNvPr id="1048725" name="Text 13"/>
          <p:cNvSpPr/>
          <p:nvPr/>
        </p:nvSpPr>
        <p:spPr>
          <a:xfrm>
            <a:off x="548640" y="2537460"/>
            <a:ext cx="2331720" cy="22860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 leave for different reasons than Lab Technicians. Good HR strategy means understanding each role, not just making company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olicies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dirty="0" sz="1100" lang="en-US"/>
          </a:p>
        </p:txBody>
      </p:sp>
      <p:sp>
        <p:nvSpPr>
          <p:cNvPr id="1048726" name="Text 16"/>
          <p:cNvSpPr/>
          <p:nvPr/>
        </p:nvSpPr>
        <p:spPr>
          <a:xfrm>
            <a:off x="7132320" y="1097280"/>
            <a:ext cx="68580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endParaRPr dirty="0" sz="1800" lang="en-US"/>
          </a:p>
        </p:txBody>
      </p:sp>
      <p:sp>
        <p:nvSpPr>
          <p:cNvPr id="1048727" name="Text 17"/>
          <p:cNvSpPr/>
          <p:nvPr/>
        </p:nvSpPr>
        <p:spPr>
          <a:xfrm>
            <a:off x="5514975" y="1647825"/>
            <a:ext cx="242316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 smtClean="0"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3) Small </a:t>
            </a:r>
            <a:r>
              <a:rPr b="1" dirty="0" sz="1300" lang="en-US">
                <a:latin typeface="Georgia" pitchFamily="34" charset="0"/>
                <a:ea typeface="Georgia" pitchFamily="34" charset="-122"/>
                <a:cs typeface="Georgia" pitchFamily="34" charset="-120"/>
              </a:rPr>
              <a:t>changes = big impact</a:t>
            </a:r>
            <a:endParaRPr dirty="0" sz="1300" lang="en-US"/>
          </a:p>
        </p:txBody>
      </p:sp>
      <p:sp>
        <p:nvSpPr>
          <p:cNvPr id="1048728" name="Text 18"/>
          <p:cNvSpPr/>
          <p:nvPr/>
        </p:nvSpPr>
        <p:spPr>
          <a:xfrm>
            <a:off x="5762625" y="1394460"/>
            <a:ext cx="2331720" cy="22860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as simple as a stock option grant can cut attrition in half. You don't always need a big budge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GB"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nge </a:t>
            </a:r>
            <a:r>
              <a:rPr dirty="0" sz="1100" lang="en-US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a meaningful difference.</a:t>
            </a:r>
            <a:endParaRPr dirty="0" sz="11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0"/>
        </a:solidFill>
        <a:effectLst/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Text 3"/>
          <p:cNvSpPr/>
          <p:nvPr/>
        </p:nvSpPr>
        <p:spPr>
          <a:xfrm>
            <a:off x="1412931" y="2715768"/>
            <a:ext cx="8229600" cy="8229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4000" lang="en-US">
                <a:solidFill>
                  <a:schemeClr val="tx1">
                    <a:lumMod val="75000"/>
                    <a:lumOff val="2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r>
              <a:rPr b="1" dirty="0" sz="4000" lang="en-US" smtClean="0">
                <a:solidFill>
                  <a:schemeClr val="tx1">
                    <a:lumMod val="75000"/>
                    <a:lumOff val="2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dirty="0" sz="4000"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8733" name="Text 4"/>
          <p:cNvSpPr/>
          <p:nvPr/>
        </p:nvSpPr>
        <p:spPr>
          <a:xfrm>
            <a:off x="457200" y="1664208"/>
            <a:ext cx="822960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endParaRPr dirty="0" sz="1400" lang="en-US"/>
          </a:p>
        </p:txBody>
      </p:sp>
      <p:sp>
        <p:nvSpPr>
          <p:cNvPr id="1048734" name="Text 6"/>
          <p:cNvSpPr/>
          <p:nvPr/>
        </p:nvSpPr>
        <p:spPr>
          <a:xfrm>
            <a:off x="1645920" y="841248"/>
            <a:ext cx="5943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altLang="en-GB" dirty="0" sz="1100" i="1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altLang="en-GB" dirty="0" sz="1100" i="1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altLang="en-GB" dirty="0" sz="1100" i="1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altLang="en-GB" dirty="0" sz="1100" i="1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altLang="en-GB" dirty="0" sz="1100" i="1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altLang="en-GB" dirty="0" sz="1100" i="1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altLang="en-GB" dirty="0" sz="1100" i="1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sion</a:t>
            </a:r>
            <a:r>
              <a:rPr altLang="en-GB" dirty="0" sz="1100" i="1"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dirty="0" sz="1100" lang="en-US"/>
          </a:p>
        </p:txBody>
      </p:sp>
      <p:sp>
        <p:nvSpPr>
          <p:cNvPr id="1048735" name="Text 7"/>
          <p:cNvSpPr/>
          <p:nvPr/>
        </p:nvSpPr>
        <p:spPr>
          <a:xfrm>
            <a:off x="1645920" y="978408"/>
            <a:ext cx="5669280" cy="8686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r>
              <a:rPr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Crush's 16.1% attrition 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ust 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dirty="0" sz="1200" i="1" lang="en-US" smtClean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t </a:t>
            </a:r>
            <a:r>
              <a:rPr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clear causes and clear solutions. With the right changes, this can be fixed</a:t>
            </a:r>
            <a:r>
              <a:rPr altLang="en-GB" dirty="0" sz="1200" i="1" lang="en-US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dirty="0" sz="12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shboard Over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52400"/>
            <a:ext cx="841248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latin typeface="Georgia" pitchFamily="34" charset="0"/>
              </a:rPr>
              <a:t>Dashboard Overview</a:t>
            </a:r>
          </a:p>
        </p:txBody>
      </p:sp>
      <p:pic>
        <p:nvPicPr>
          <p:cNvPr id="3" name="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85800"/>
            <a:ext cx="8686800" cy="4343400"/>
          </a:xfrm>
          <a:prstGeom prst="rect">
            <a:avLst/>
          </a:prstGeom>
        </p:spPr>
      </p:pic>
      <p:sp>
        <p:nvSpPr>
          <p:cNvPr id="4" name="Caption"/>
          <p:cNvSpPr/>
          <p:nvPr/>
        </p:nvSpPr>
        <p:spPr>
          <a:xfrm>
            <a:off x="365760" y="5029200"/>
            <a:ext cx="8412480" cy="2286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000" lang="en-US">
                <a:solidFill>
                  <a:srgbClr val="5A5A5A"/>
                </a:solidFill>
                <a:latin typeface="Calibri" pitchFamily="34" charset="0"/>
              </a:rPr>
              <a:t>Power BI Dashboard — Tech Crush Group 24 • IBM HR Attrition Analytics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Employee Attrition Analysis - TechCrush</dc:title>
  <dc:creator>PptxGenJS</dc:creator>
  <cp:lastModifiedBy>HP</cp:lastModifiedBy>
  <dcterms:created xsi:type="dcterms:W3CDTF">2026-06-08T02:33:42Z</dcterms:created>
  <dcterms:modified xsi:type="dcterms:W3CDTF">2026-06-10T13:32:18Z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5f72a9227ef64fb191509049682fbbc0</vt:lpwstr>
  </property>
</Properties>
</file>